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sldIdLst>
    <p:sldId id="256" r:id="rId2"/>
    <p:sldId id="257" r:id="rId3"/>
    <p:sldId id="258" r:id="rId4"/>
    <p:sldId id="280" r:id="rId5"/>
    <p:sldId id="260" r:id="rId6"/>
    <p:sldId id="261" r:id="rId7"/>
    <p:sldId id="262" r:id="rId8"/>
    <p:sldId id="283" r:id="rId9"/>
    <p:sldId id="263" r:id="rId10"/>
    <p:sldId id="264" r:id="rId11"/>
    <p:sldId id="284" r:id="rId12"/>
    <p:sldId id="285" r:id="rId13"/>
    <p:sldId id="265" r:id="rId14"/>
    <p:sldId id="270" r:id="rId15"/>
    <p:sldId id="271" r:id="rId16"/>
    <p:sldId id="286" r:id="rId17"/>
    <p:sldId id="272" r:id="rId18"/>
    <p:sldId id="273" r:id="rId19"/>
    <p:sldId id="287" r:id="rId20"/>
    <p:sldId id="274" r:id="rId21"/>
    <p:sldId id="275" r:id="rId22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2BB20C8-EB59-40CF-AAA3-89C619846B7D}" type="datetimeFigureOut">
              <a:rPr lang="es-ES"/>
              <a:pPr>
                <a:defRPr/>
              </a:pPr>
              <a:t>29/09/2017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 smtClean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9000090-C74D-40C0-8AD1-60EB0A8ECD5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Actividades pag 53</a:t>
            </a:r>
          </a:p>
        </p:txBody>
      </p:sp>
      <p:sp>
        <p:nvSpPr>
          <p:cNvPr id="2765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725322B-5D69-4B5C-8810-15C4FDEC404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Tutorial crear unidades organizativas</a:t>
            </a:r>
          </a:p>
        </p:txBody>
      </p:sp>
      <p:sp>
        <p:nvSpPr>
          <p:cNvPr id="2867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326B74-8E6B-4618-9FCB-FECBCD8EB9EA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s-ES" smtClean="0"/>
          </a:p>
        </p:txBody>
      </p:sp>
      <p:sp>
        <p:nvSpPr>
          <p:cNvPr id="297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0999395-3694-44FB-9EFC-2545B1DEAF10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s-ES" smtClean="0"/>
              <a:t>Tutorial Creación de grupos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s-ES" smtClean="0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CAC3EC-49B0-49F9-AA50-8BB6AC46C099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Práctica 4  y actividades pag 57</a:t>
            </a:r>
          </a:p>
        </p:txBody>
      </p:sp>
      <p:sp>
        <p:nvSpPr>
          <p:cNvPr id="3174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455FBC-8272-4F6F-89EA-78DF3A4BAA9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s-ES" smtClean="0"/>
          </a:p>
        </p:txBody>
      </p:sp>
      <p:sp>
        <p:nvSpPr>
          <p:cNvPr id="31748" name="3 Marcador de número de diapositiva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62C839D-8FF4-4244-92CF-C4026C0CB659}" type="slidenum">
              <a:rPr lang="es-ES" sz="1200">
                <a:latin typeface="+mn-lt"/>
              </a:rPr>
              <a:pPr algn="r">
                <a:defRPr/>
              </a:pPr>
              <a:t>11</a:t>
            </a:fld>
            <a:endParaRPr lang="es-E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s-ES" smtClean="0"/>
              <a:t>Tutorial Creación de grupos. Actividades pag 57</a:t>
            </a:r>
          </a:p>
        </p:txBody>
      </p:sp>
      <p:sp>
        <p:nvSpPr>
          <p:cNvPr id="31748" name="3 Marcador de número de diapositiva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E9D4880-C88E-4ADD-81B5-59F7D11E5860}" type="slidenum">
              <a:rPr lang="es-ES" sz="1200">
                <a:latin typeface="+mn-lt"/>
              </a:rPr>
              <a:pPr algn="r">
                <a:defRPr/>
              </a:pPr>
              <a:t>12</a:t>
            </a:fld>
            <a:endParaRPr lang="es-E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s-ES" smtClean="0"/>
          </a:p>
        </p:txBody>
      </p:sp>
      <p:sp>
        <p:nvSpPr>
          <p:cNvPr id="3277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5E3D44-DB17-414A-BE07-B24287F19F3F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Tutorial Creación de cuentas de usuario.Actividades pag 59</a:t>
            </a:r>
          </a:p>
        </p:txBody>
      </p:sp>
      <p:sp>
        <p:nvSpPr>
          <p:cNvPr id="32772" name="3 Marcador de número de diapositiva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D08ECC0-B875-418D-9F2A-7CF359491BBE}" type="slidenum">
              <a:rPr lang="es-ES" sz="1200">
                <a:latin typeface="+mn-lt"/>
              </a:rPr>
              <a:pPr algn="r">
                <a:defRPr/>
              </a:pPr>
              <a:t>16</a:t>
            </a:fld>
            <a:endParaRPr lang="es-E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Práctica 6</a:t>
            </a:r>
          </a:p>
        </p:txBody>
      </p:sp>
      <p:sp>
        <p:nvSpPr>
          <p:cNvPr id="3379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85417B-BFAC-4175-8FFC-F221D8F44BA5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Tutorial configuración de hora de inicio de sesión y actividades pag 63</a:t>
            </a:r>
          </a:p>
        </p:txBody>
      </p:sp>
      <p:sp>
        <p:nvSpPr>
          <p:cNvPr id="3482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4EEB17-77A2-4068-8EA5-6FA9CC46EF6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actividades pag 63</a:t>
            </a:r>
          </a:p>
        </p:txBody>
      </p:sp>
      <p:sp>
        <p:nvSpPr>
          <p:cNvPr id="34820" name="3 Marcador de número de diapositiva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0E0C94F-3375-42BE-952A-5F740C2BBF82}" type="slidenum">
              <a:rPr lang="es-ES" sz="1200">
                <a:latin typeface="+mn-lt"/>
              </a:rPr>
              <a:pPr algn="r">
                <a:defRPr/>
              </a:pPr>
              <a:t>19</a:t>
            </a:fld>
            <a:endParaRPr lang="es-E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Práctica 8 y actividades pag 64</a:t>
            </a:r>
          </a:p>
        </p:txBody>
      </p:sp>
      <p:sp>
        <p:nvSpPr>
          <p:cNvPr id="3584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664BD0-524D-4522-882D-34B5FEED047A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es-ES" smtClean="0"/>
              <a:t>Práctica 9 y actividades pag 66</a:t>
            </a:r>
          </a:p>
        </p:txBody>
      </p:sp>
      <p:sp>
        <p:nvSpPr>
          <p:cNvPr id="3686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42E9BC-1275-474A-9DF9-E4C16AB04EA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2"/>
          <p:cNvGrpSpPr>
            <a:grpSpLocks/>
          </p:cNvGrpSpPr>
          <p:nvPr/>
        </p:nvGrpSpPr>
        <p:grpSpPr bwMode="auto">
          <a:xfrm>
            <a:off x="1658938" y="1600200"/>
            <a:ext cx="6837362" cy="3200400"/>
            <a:chOff x="1045" y="1008"/>
            <a:chExt cx="4307" cy="2016"/>
          </a:xfrm>
        </p:grpSpPr>
        <p:sp>
          <p:nvSpPr>
            <p:cNvPr id="57347" name="Oval 3"/>
            <p:cNvSpPr>
              <a:spLocks noChangeArrowheads="1"/>
            </p:cNvSpPr>
            <p:nvPr/>
          </p:nvSpPr>
          <p:spPr bwMode="hidden">
            <a:xfrm flipH="1">
              <a:off x="4392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7348" name="Oval 4"/>
            <p:cNvSpPr>
              <a:spLocks noChangeArrowheads="1"/>
            </p:cNvSpPr>
            <p:nvPr/>
          </p:nvSpPr>
          <p:spPr bwMode="hidden">
            <a:xfrm flipH="1">
              <a:off x="3264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7349" name="Oval 5"/>
            <p:cNvSpPr>
              <a:spLocks noChangeArrowheads="1"/>
            </p:cNvSpPr>
            <p:nvPr/>
          </p:nvSpPr>
          <p:spPr bwMode="hidden">
            <a:xfrm flipH="1">
              <a:off x="2136" y="1008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7350" name="Oval 6"/>
            <p:cNvSpPr>
              <a:spLocks noChangeArrowheads="1"/>
            </p:cNvSpPr>
            <p:nvPr/>
          </p:nvSpPr>
          <p:spPr bwMode="hidden">
            <a:xfrm flipH="1">
              <a:off x="2136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7351" name="Oval 7"/>
            <p:cNvSpPr>
              <a:spLocks noChangeArrowheads="1"/>
            </p:cNvSpPr>
            <p:nvPr/>
          </p:nvSpPr>
          <p:spPr bwMode="hidden">
            <a:xfrm flipH="1">
              <a:off x="1045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7352" name="Oval 8"/>
            <p:cNvSpPr>
              <a:spLocks noChangeArrowheads="1"/>
            </p:cNvSpPr>
            <p:nvPr/>
          </p:nvSpPr>
          <p:spPr bwMode="hidden">
            <a:xfrm flipH="1">
              <a:off x="4392" y="2064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</p:grpSp>
      <p:sp>
        <p:nvSpPr>
          <p:cNvPr id="57353" name="Rectangle 9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E3025832-043C-49C4-B527-CCBA695D0398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57354" name="Rectangle 1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3CB1C0C-FF38-4C16-8A68-B3FFB3E16090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933575"/>
          </a:xfrm>
        </p:spPr>
        <p:txBody>
          <a:bodyPr anchor="b"/>
          <a:lstStyle>
            <a:lvl1pPr algn="r">
              <a:defRPr sz="4400"/>
            </a:lvl1pPr>
          </a:lstStyle>
          <a:p>
            <a:r>
              <a:rPr lang="es-ES"/>
              <a:t>Haga clic para cambiar el estilo de título	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05200"/>
            <a:ext cx="64008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1122DF-D832-482C-8950-09D1FD6558A7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382D3-0109-4DD9-9239-D9204F2A7E20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09A71C-737F-4C7E-8AEC-4BFFBA8D4546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00771-9305-4AE9-89BC-F4127B7C591E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8D8EB0-3C2E-4106-AD6C-740B188039CE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2EA3B-60A3-4DEA-94B0-88DB95F48954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8F45A8-2329-4012-B256-EEB3AA1D5E7F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AEA6DA-0FB0-493F-9990-9CB5CA229E6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D78431-B60A-4A97-B37C-E912BC387225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19A9C9-1F38-42B2-918F-30C1C99B753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8B3D64-9D98-45A7-9D9D-DF1DC46E6851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9F17FB-90F9-4F10-ABB5-06C526E32E0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35A9E3-89ED-4394-873F-E8BC19C352DF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C989AC-8645-497E-B633-E47B51C51203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00B771-2D45-4AE3-931E-88394524E3A7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D7EAF-2445-49CD-AAEE-52B6A0F85C6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4E0B48-A6E1-4F26-AA5F-7926AC5B6A29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47667-FEB9-4FAC-BB0C-11223D19513B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628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628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BB090D-82DE-45C5-B38E-99FD77D1E1F5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C5A000-1DB9-4780-9D29-00803CB48CC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46E1DD-4796-4BE8-A4EF-70ED15ADE1E7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C924AFB-2F8F-4FFD-93CB-6D7C18746089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3857DC9-6657-4C2D-B25A-06F5B3B96EEC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A3A23EC-5438-47B5-823E-75AB19C1C785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2"/>
          <p:cNvGrpSpPr>
            <a:grpSpLocks/>
          </p:cNvGrpSpPr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56323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6324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6325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6326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  <p:sp>
          <p:nvSpPr>
            <p:cNvPr id="56327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s-ES" sz="2400">
                <a:latin typeface="Times New Roman" charset="0"/>
              </a:endParaRPr>
            </a:p>
          </p:txBody>
        </p:sp>
      </p:grpSp>
      <p:sp>
        <p:nvSpPr>
          <p:cNvPr id="563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5632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430425B9-795A-45F9-90D3-E174FD4A4669}" type="datetimeFigureOut">
              <a:rPr lang="es-ES"/>
              <a:pPr/>
              <a:t>29/09/2017</a:t>
            </a:fld>
            <a:endParaRPr lang="es-ES"/>
          </a:p>
        </p:txBody>
      </p:sp>
      <p:sp>
        <p:nvSpPr>
          <p:cNvPr id="5633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s-ES"/>
          </a:p>
        </p:txBody>
      </p:sp>
      <p:sp>
        <p:nvSpPr>
          <p:cNvPr id="5633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8AA4448-FB24-4FA8-A716-29C4824C803D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56332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¡"/>
        <a:defRPr sz="27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1 Título"/>
          <p:cNvSpPr>
            <a:spLocks noGrp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algn="r"/>
            <a:r>
              <a:rPr lang="es-ES" sz="4400"/>
              <a:t>TEMA 3: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4294967295"/>
          </p:nvPr>
        </p:nvSpPr>
        <p:spPr>
          <a:xfrm>
            <a:off x="1371600" y="3889375"/>
            <a:ext cx="6400800" cy="1754188"/>
          </a:xfrm>
        </p:spPr>
        <p:txBody>
          <a:bodyPr>
            <a:normAutofit/>
          </a:bodyPr>
          <a:lstStyle/>
          <a:p>
            <a:pPr marL="0" indent="0" algn="r">
              <a:buFont typeface="Wingdings" pitchFamily="2" charset="2"/>
              <a:buNone/>
            </a:pPr>
            <a:r>
              <a:rPr lang="es-ES" dirty="0">
                <a:solidFill>
                  <a:srgbClr val="FFFF00"/>
                </a:solidFill>
              </a:rPr>
              <a:t>USUARIOS Y GRUPOS EN REDES WINDOWS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1. GRUPOS DEL DIRECTORIO ACTIVO</a:t>
            </a:r>
          </a:p>
        </p:txBody>
      </p:sp>
      <p:sp>
        <p:nvSpPr>
          <p:cNvPr id="3075" name="2 Marcador de contenido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s-ES"/>
              <a:t>Si no está instalado el directorio activo, la gestión de usuarios y grupos que hagamos servirá solo para usuarios locales.</a:t>
            </a:r>
          </a:p>
          <a:p>
            <a:r>
              <a:rPr lang="es-ES"/>
              <a:t>Si el directorio activo está instalado, todos los usuarios que se den de alta serán usuarios globales del dominio y podrán iniciar sesión desde cualquier ordenador del dominio y en el servidor.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lang="es-ES"/>
              <a:t>1.1 INTRODUCCIÓN A LOS GRUPOS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/>
        <p:txBody>
          <a:bodyPr>
            <a:normAutofit fontScale="92500"/>
          </a:bodyPr>
          <a:lstStyle/>
          <a:p>
            <a:r>
              <a:rPr lang="es-ES" sz="3000"/>
              <a:t>Los grupos pueden contener usuarios, equipos u otros grupos.</a:t>
            </a:r>
          </a:p>
          <a:p>
            <a:r>
              <a:rPr lang="es-ES" sz="3000"/>
              <a:t>Los grupos simplifican la administración porque permiten conceder capacidades comunes a múltiples usuarios simultáneamente.</a:t>
            </a:r>
          </a:p>
          <a:p>
            <a:r>
              <a:rPr lang="es-ES" sz="3000"/>
              <a:t>Cuando se crea un grupo se le asigna un ámbito, que determina la visibilidad del grupo dentro del dominio, así como las características que pueden conceder a los objetos que contiene.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s-ES"/>
              <a:t>1.1 ÁMBITO DE LOS GRUPOS</a:t>
            </a:r>
          </a:p>
        </p:txBody>
      </p:sp>
      <p:graphicFrame>
        <p:nvGraphicFramePr>
          <p:cNvPr id="6171" name="Group 27"/>
          <p:cNvGraphicFramePr>
            <a:graphicFrameLocks noGrp="1"/>
          </p:cNvGraphicFramePr>
          <p:nvPr>
            <p:ph idx="4294967295"/>
          </p:nvPr>
        </p:nvGraphicFramePr>
        <p:xfrm>
          <a:off x="457200" y="1600200"/>
          <a:ext cx="8002588" cy="4480560"/>
        </p:xfrm>
        <a:graphic>
          <a:graphicData uri="http://schemas.openxmlformats.org/drawingml/2006/table">
            <a:tbl>
              <a:tblPr/>
              <a:tblGrid>
                <a:gridCol w="1811338"/>
                <a:gridCol w="3959225"/>
                <a:gridCol w="223202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Ámbito de grupo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El grupo puede incluir como miembros…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Al grupo se le pueden asignar permisos en…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Universal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Las cuentas de cualquier dominio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Los grupos globales y universales de cualquier dominio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Cualquier dominio o bosque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Global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Las cuentas  y grupos globales del mismo dominio que el grupo global principal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Cualquier dominio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Dominio local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Cuentas, grupos globales y universales de cualquier dominio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Grupos locales de dominio pero sólo del mismo dominio que el grupo local de dominio principal</a:t>
                      </a:r>
                      <a:b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</a:b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s-E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En el mismo dominio que el grupo local de dominio principal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258763" y="93663"/>
            <a:ext cx="8785225" cy="1143000"/>
          </a:xfrm>
        </p:spPr>
        <p:txBody>
          <a:bodyPr>
            <a:normAutofit/>
          </a:bodyPr>
          <a:lstStyle/>
          <a:p>
            <a:r>
              <a:rPr lang="es-ES" sz="3400"/>
              <a:t>1.2 HERRAMIENTA USUARIOS Y EQUIPOS DE ACTIVE DIRECTORY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928802"/>
            <a:ext cx="8630401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1.3 AGRUPACIÓN DE OBJETOS EN EL DIRECTORIO ACTIVO</a:t>
            </a:r>
          </a:p>
        </p:txBody>
      </p:sp>
      <p:sp>
        <p:nvSpPr>
          <p:cNvPr id="8195" name="2 Marcador de contenido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s-ES"/>
              <a:t>Para evitar tener mezclados usuarios y grupos, podemos crear una unidad organizativa (UO) para agrupar los objetos del Directorio Activo en nuevos contenedores. </a:t>
            </a:r>
          </a:p>
          <a:p>
            <a:r>
              <a:rPr lang="es-ES"/>
              <a:t>Las UO que la herramienta muestra por defecto son modificables, y no afectan al funcionamiento del equipo.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1.4 CREACIÓN DE GRUPOS EN ACTIVE DIRECTORY</a:t>
            </a:r>
          </a:p>
        </p:txBody>
      </p:sp>
      <p:sp>
        <p:nvSpPr>
          <p:cNvPr id="9219" name="2 Marcador de contenido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s-ES"/>
              <a:t>Para dar de alta un grupo en el dominio hay que tener en cuenta:</a:t>
            </a:r>
          </a:p>
          <a:p>
            <a:pPr lvl="1"/>
            <a:r>
              <a:rPr lang="es-ES"/>
              <a:t>El nombre del grupo ha de ser único en dominio.</a:t>
            </a:r>
          </a:p>
          <a:p>
            <a:pPr lvl="1"/>
            <a:r>
              <a:rPr lang="es-ES"/>
              <a:t>El nombre del grupo para los servidores pre-Windows 2000 se rellena automáticamente.</a:t>
            </a:r>
          </a:p>
          <a:p>
            <a:pPr lvl="1"/>
            <a:r>
              <a:rPr lang="es-ES"/>
              <a:t>Hay que seleccionar el ámbito del grupo.</a:t>
            </a:r>
          </a:p>
          <a:p>
            <a:pPr lvl="1"/>
            <a:r>
              <a:rPr lang="es-ES"/>
              <a:t>En tipo de grupo se seleccionará: distribución o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s-ES" sz="3400"/>
              <a:t>1.4 CREACIÓN DE GRUPOS EN ACTIVE DIRECTORY</a:t>
            </a:r>
          </a:p>
        </p:txBody>
      </p:sp>
      <p:pic>
        <p:nvPicPr>
          <p:cNvPr id="5837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285860"/>
            <a:ext cx="6041816" cy="5180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Título"/>
          <p:cNvSpPr>
            <a:spLocks noGrp="1"/>
          </p:cNvSpPr>
          <p:nvPr>
            <p:ph type="title" idx="4294967295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es-ES"/>
              <a:t>1.5 ELIMINACIÓN DE GRUPOS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457200" y="1285860"/>
            <a:ext cx="8229600" cy="521497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s-ES" dirty="0"/>
              <a:t>Un grupo en Windows Server tiene asignado un identificador que permite saber los permisos que tiene</a:t>
            </a:r>
            <a:r>
              <a:rPr lang="es-ES" dirty="0" smtClean="0"/>
              <a:t>.</a:t>
            </a:r>
            <a:endParaRPr lang="es-ES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s-ES" dirty="0"/>
              <a:t>Cuando el grupo se elimina, su identificador se volverá a usar en el sistema</a:t>
            </a:r>
            <a:r>
              <a:rPr lang="es-ES" dirty="0" smtClean="0"/>
              <a:t>.</a:t>
            </a:r>
            <a:endParaRPr lang="es-ES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s-ES" dirty="0"/>
              <a:t>Si el grupo se vuelve a dar de alta en el sistema, su identificador cambiará y habrá que asignarle nuevamente los usuarios, UO, </a:t>
            </a:r>
            <a:r>
              <a:rPr lang="es-ES" dirty="0" err="1"/>
              <a:t>etc</a:t>
            </a:r>
            <a:r>
              <a:rPr lang="es-ES" dirty="0"/>
              <a:t>, ya que la configuración no se restaura</a:t>
            </a:r>
            <a:r>
              <a:rPr lang="es-ES" dirty="0" smtClean="0"/>
              <a:t>.</a:t>
            </a:r>
            <a:endParaRPr lang="es-ES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s-ES" dirty="0"/>
              <a:t>La eliminación del grupo, no elimina los usuarios que contenga, sólo los permisos que tiene asociados.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1.6. INCORPORACIÓN DE USUARIOS A UN GRUPO</a:t>
            </a:r>
          </a:p>
        </p:txBody>
      </p:sp>
      <p:sp>
        <p:nvSpPr>
          <p:cNvPr id="11267" name="2 Marcador de contenido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s-ES"/>
              <a:t>Una vez creado un grupo, podremos añadirle:</a:t>
            </a:r>
          </a:p>
          <a:p>
            <a:pPr lvl="1"/>
            <a:r>
              <a:rPr lang="es-ES"/>
              <a:t>Usuarios</a:t>
            </a:r>
          </a:p>
          <a:p>
            <a:pPr lvl="1"/>
            <a:r>
              <a:rPr lang="es-ES"/>
              <a:t>Otros grupos</a:t>
            </a:r>
          </a:p>
          <a:p>
            <a:pPr lvl="1"/>
            <a:r>
              <a:rPr lang="es-ES"/>
              <a:t>Equipos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1.6. INCORPORACIÓN DE USUARIOS A UN GRUPO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1828800"/>
          </a:xfrm>
        </p:spPr>
        <p:txBody>
          <a:bodyPr/>
          <a:lstStyle/>
          <a:p>
            <a:r>
              <a:rPr lang="es-ES" sz="2800"/>
              <a:t>O bien seleccionamos los usuarios y los añadimos a un grupo</a:t>
            </a:r>
          </a:p>
          <a:p>
            <a:endParaRPr lang="es-ES" sz="2800"/>
          </a:p>
        </p:txBody>
      </p:sp>
      <p:pic>
        <p:nvPicPr>
          <p:cNvPr id="61446" name="Picture 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648200" y="1749425"/>
            <a:ext cx="4038600" cy="1889125"/>
          </a:xfrm>
        </p:spPr>
      </p:pic>
      <p:pic>
        <p:nvPicPr>
          <p:cNvPr id="61447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/>
          <a:srcRect/>
          <a:stretch>
            <a:fillRect/>
          </a:stretch>
        </p:blipFill>
        <p:spPr>
          <a:xfrm>
            <a:off x="468313" y="4000500"/>
            <a:ext cx="8218487" cy="259715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1.6. INCORPORACIÓN DE USUARIOS A UN GRUPO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s-ES" sz="2800"/>
              <a:t>O seleccionamos un grupo y agregamos miembros.</a:t>
            </a:r>
          </a:p>
          <a:p>
            <a:endParaRPr lang="es-ES" sz="2800"/>
          </a:p>
        </p:txBody>
      </p:sp>
      <p:pic>
        <p:nvPicPr>
          <p:cNvPr id="64520" name="Picture 8"/>
          <p:cNvPicPr>
            <a:picLocks noChangeAspect="1" noChangeArrowheads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643438" y="981075"/>
            <a:ext cx="4038600" cy="2139950"/>
          </a:xfrm>
          <a:noFill/>
          <a:ln/>
        </p:spPr>
      </p:pic>
      <p:pic>
        <p:nvPicPr>
          <p:cNvPr id="64522" name="Picture 1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/>
          <a:srcRect/>
          <a:stretch>
            <a:fillRect/>
          </a:stretch>
        </p:blipFill>
        <p:spPr>
          <a:xfrm>
            <a:off x="2627313" y="3213100"/>
            <a:ext cx="3306762" cy="338296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2. IMPLEMENTACIÓN DE GRUPOS INTEGRADOS  EN ACTIVE DIRECTORY</a:t>
            </a:r>
          </a:p>
        </p:txBody>
      </p:sp>
      <p:sp>
        <p:nvSpPr>
          <p:cNvPr id="12291" name="2 Marcador de contenido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s-ES"/>
              <a:t>Windows Server incluye una serie de grupos predefinidos que tienen un conjunto predeterminado de derechos de usuario.</a:t>
            </a:r>
          </a:p>
          <a:p>
            <a:r>
              <a:rPr lang="es-ES"/>
              <a:t>Los derechos de usuario determinan las tareas del sistema que puede realizar un usuario o un miembro del grupo incorporado.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3. USUARIOS DE ACTIVE DIRECTORY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s-ES" sz="3000"/>
              <a:t>Las cuentas de usuario se crean en la ventana principal del Directorio Activo, dentro de la carpeta Users o de la UO que hayamos creado.</a:t>
            </a:r>
          </a:p>
          <a:p>
            <a:pPr>
              <a:lnSpc>
                <a:spcPct val="90000"/>
              </a:lnSpc>
            </a:pPr>
            <a:r>
              <a:rPr lang="es-ES" sz="3000"/>
              <a:t>El nombre de usuario tiene que ser único dentro de cada equipo local o en el DA, pudiéndose repetir en otros equipos locales o en otro dominio.</a:t>
            </a:r>
          </a:p>
          <a:p>
            <a:pPr>
              <a:lnSpc>
                <a:spcPct val="90000"/>
              </a:lnSpc>
            </a:pPr>
            <a:r>
              <a:rPr lang="es-ES" sz="3000"/>
              <a:t>Cada cuenta de usuario tiene un nombre principal que tiene 2 partes: el nombre principal de seguridad y el sufijo de nombre principal.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3.1 CREACIÓN DE CUENTAS DE USUARIO</a:t>
            </a:r>
          </a:p>
        </p:txBody>
      </p:sp>
      <p:sp>
        <p:nvSpPr>
          <p:cNvPr id="19459" name="2 Marcador de contenido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s-ES"/>
              <a:t>La instalación de Windows Server genera dos usuarios: Administrador y el Invitado.</a:t>
            </a:r>
          </a:p>
          <a:p>
            <a:r>
              <a:rPr lang="es-ES"/>
              <a:t>Sólo podemos crear cuentas de usuario para el dominio cuando esté instalado el Directorio Activo.</a:t>
            </a:r>
          </a:p>
          <a:p>
            <a:r>
              <a:rPr lang="es-ES"/>
              <a:t>Con el Directorio Activo instalado, los usuarios se podrán validar en el equipo local o en otros.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3.1 CREACIÓN DE CUENTAS DE USUARIO</a:t>
            </a:r>
          </a:p>
        </p:txBody>
      </p:sp>
      <p:pic>
        <p:nvPicPr>
          <p:cNvPr id="66571" name="Picture 11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23073" y="2189163"/>
            <a:ext cx="3906853" cy="335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72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4681401" y="2170113"/>
            <a:ext cx="3972197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3.2 PROPIEDADES DE LAS CUENTAS DE USUARIO</a:t>
            </a:r>
          </a:p>
        </p:txBody>
      </p:sp>
      <p:pic>
        <p:nvPicPr>
          <p:cNvPr id="20483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250825" y="1600200"/>
            <a:ext cx="8713788" cy="4997450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7" name="Picture 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37075" y="1420812"/>
            <a:ext cx="4391025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3.3. OPERACIONES SOBRE CUENTAS DE USUARIO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412875"/>
            <a:ext cx="4038600" cy="5111750"/>
          </a:xfrm>
        </p:spPr>
        <p:txBody>
          <a:bodyPr/>
          <a:lstStyle/>
          <a:p>
            <a:r>
              <a:rPr lang="es-ES" sz="2800"/>
              <a:t>Creado el usuario, y pulsando botón derecho propiedades sobre el usuario, podremos configurar, en la pestaña Cuenta:</a:t>
            </a:r>
          </a:p>
          <a:p>
            <a:pPr lvl="1"/>
            <a:r>
              <a:rPr lang="es-ES" sz="2300"/>
              <a:t>Horas de inicio de sesión. </a:t>
            </a:r>
          </a:p>
          <a:p>
            <a:pPr lvl="1"/>
            <a:r>
              <a:rPr lang="es-ES" sz="2300"/>
              <a:t>Opciones de la estación de trabajo.</a:t>
            </a:r>
          </a:p>
          <a:p>
            <a:pPr lvl="1"/>
            <a:r>
              <a:rPr lang="es-ES" sz="2300"/>
              <a:t>Contraseña</a:t>
            </a:r>
          </a:p>
          <a:p>
            <a:pPr lvl="1"/>
            <a:endParaRPr lang="es-ES" sz="2300"/>
          </a:p>
          <a:p>
            <a:endParaRPr lang="es-ES" sz="2800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 flipV="1">
            <a:off x="3419474" y="3571875"/>
            <a:ext cx="1652591" cy="8651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 flipV="1">
            <a:off x="4284662" y="3571875"/>
            <a:ext cx="2430477" cy="15128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 flipV="1">
            <a:off x="2771775" y="5013325"/>
            <a:ext cx="2808288" cy="863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3.3. OPERACIONES SOBRE CUENTAS DE USUARIO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259263" cy="4530725"/>
          </a:xfrm>
        </p:spPr>
        <p:txBody>
          <a:bodyPr/>
          <a:lstStyle/>
          <a:p>
            <a:r>
              <a:rPr lang="es-ES" sz="2800"/>
              <a:t>Desde el menú contextual del usuario podremos realizar las siguientes operaciones sobre la cuenta.</a:t>
            </a:r>
          </a:p>
        </p:txBody>
      </p:sp>
      <p:pic>
        <p:nvPicPr>
          <p:cNvPr id="70661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357298"/>
            <a:ext cx="4296800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4. ADMINISTRACIÓN DE CUENTAS DE USUARIO. CREACIÓN DE PLANTILLAS.</a:t>
            </a:r>
          </a:p>
        </p:txBody>
      </p:sp>
      <p:sp>
        <p:nvSpPr>
          <p:cNvPr id="22531" name="2 Marcador de contenido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s-ES"/>
              <a:t>Las plantillas de cuentas de usuario son cuentas de usuario estándares creadas con las propiedades que se aplican a usuarios con necesidades comunes.</a:t>
            </a:r>
          </a:p>
          <a:p>
            <a:r>
              <a:rPr lang="es-ES"/>
              <a:t>Después personalizaremos las plantillas para que cada usuario tenga sus datos particulares pero sin tener que modificar los datos que queramos que sean de uso global.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s-ES" sz="3400"/>
              <a:t>5.1 CONFIGURACIÓN DEL SERVICIO DNS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9244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000"/>
              <a:t>El DNS o sistema de nombres de dominio es una base de datos que almacena información asociada a nombres de dominio en redes como Internet o en redes Windows con DA.</a:t>
            </a:r>
          </a:p>
          <a:p>
            <a:pPr>
              <a:lnSpc>
                <a:spcPct val="90000"/>
              </a:lnSpc>
            </a:pPr>
            <a:r>
              <a:rPr lang="es-ES" sz="3000"/>
              <a:t>Las validaciones de clientes, equipos y otros tipos de configuraciones en Windows Server se gestionan a través de los nombres DNS.</a:t>
            </a:r>
          </a:p>
          <a:p>
            <a:pPr>
              <a:lnSpc>
                <a:spcPct val="90000"/>
              </a:lnSpc>
            </a:pPr>
            <a:r>
              <a:rPr lang="es-ES" sz="3000"/>
              <a:t>Tendremos que configurar el DNS para que varios controladores de dominio puedan tener conectividad entre ellos y establecer relaciones de confianza.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uarela">
  <a:themeElements>
    <a:clrScheme name="Acuarela 8">
      <a:dk1>
        <a:srgbClr val="1C1C1C"/>
      </a:dk1>
      <a:lt1>
        <a:srgbClr val="FFFFCC"/>
      </a:lt1>
      <a:dk2>
        <a:srgbClr val="390B20"/>
      </a:dk2>
      <a:lt2>
        <a:srgbClr val="FFFFCC"/>
      </a:lt2>
      <a:accent1>
        <a:srgbClr val="FF916F"/>
      </a:accent1>
      <a:accent2>
        <a:srgbClr val="561450"/>
      </a:accent2>
      <a:accent3>
        <a:srgbClr val="AEAAAB"/>
      </a:accent3>
      <a:accent4>
        <a:srgbClr val="DADAAE"/>
      </a:accent4>
      <a:accent5>
        <a:srgbClr val="FFC7BB"/>
      </a:accent5>
      <a:accent6>
        <a:srgbClr val="4D1148"/>
      </a:accent6>
      <a:hlink>
        <a:srgbClr val="637D95"/>
      </a:hlink>
      <a:folHlink>
        <a:srgbClr val="FFCC00"/>
      </a:folHlink>
    </a:clrScheme>
    <a:fontScheme name="Acuare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uarel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uarela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uarela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uarela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uarela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uarela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uarela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uarela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uarela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1001</Words>
  <Application>Microsoft Office PowerPoint</Application>
  <PresentationFormat>Presentación en pantalla (4:3)</PresentationFormat>
  <Paragraphs>101</Paragraphs>
  <Slides>21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Times New Roman</vt:lpstr>
      <vt:lpstr>Wingdings</vt:lpstr>
      <vt:lpstr>Calibri</vt:lpstr>
      <vt:lpstr>Acuarela</vt:lpstr>
      <vt:lpstr>TEMA 3:</vt:lpstr>
      <vt:lpstr>1. GRUPOS DEL DIRECTORIO ACTIVO</vt:lpstr>
      <vt:lpstr>1.1 INTRODUCCIÓN A LOS GRUPOS</vt:lpstr>
      <vt:lpstr>1.1 ÁMBITO DE LOS GRUPOS</vt:lpstr>
      <vt:lpstr>1.2 HERRAMIENTA USUARIOS Y EQUIPOS DE ACTIVE DIRECTORY</vt:lpstr>
      <vt:lpstr>1.3 AGRUPACIÓN DE OBJETOS EN EL DIRECTORIO ACTIVO</vt:lpstr>
      <vt:lpstr>1.4 CREACIÓN DE GRUPOS EN ACTIVE DIRECTORY</vt:lpstr>
      <vt:lpstr>1.4 CREACIÓN DE GRUPOS EN ACTIVE DIRECTORY</vt:lpstr>
      <vt:lpstr>1.5 ELIMINACIÓN DE GRUPOS</vt:lpstr>
      <vt:lpstr>1.6. INCORPORACIÓN DE USUARIOS A UN GRUPO</vt:lpstr>
      <vt:lpstr>1.6. INCORPORACIÓN DE USUARIOS A UN GRUPO</vt:lpstr>
      <vt:lpstr>1.6. INCORPORACIÓN DE USUARIOS A UN GRUPO</vt:lpstr>
      <vt:lpstr>2. IMPLEMENTACIÓN DE GRUPOS INTEGRADOS  EN ACTIVE DIRECTORY</vt:lpstr>
      <vt:lpstr>3. USUARIOS DE ACTIVE DIRECTORY</vt:lpstr>
      <vt:lpstr>3.1 CREACIÓN DE CUENTAS DE USUARIO</vt:lpstr>
      <vt:lpstr>3.1 CREACIÓN DE CUENTAS DE USUARIO</vt:lpstr>
      <vt:lpstr>3.2 PROPIEDADES DE LAS CUENTAS DE USUARIO</vt:lpstr>
      <vt:lpstr>3.3. OPERACIONES SOBRE CUENTAS DE USUARIO</vt:lpstr>
      <vt:lpstr>3.3. OPERACIONES SOBRE CUENTAS DE USUARIO</vt:lpstr>
      <vt:lpstr>4. ADMINISTRACIÓN DE CUENTAS DE USUARIO. CREACIÓN DE PLANTILLAS.</vt:lpstr>
      <vt:lpstr>5.1 CONFIGURACIÓN DEL SERVICIO DNS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3:</dc:title>
  <dc:creator>Alumno</dc:creator>
  <cp:lastModifiedBy>Usuario de Windows</cp:lastModifiedBy>
  <cp:revision>50</cp:revision>
  <dcterms:created xsi:type="dcterms:W3CDTF">2011-09-16T09:03:09Z</dcterms:created>
  <dcterms:modified xsi:type="dcterms:W3CDTF">2017-09-29T12:00:35Z</dcterms:modified>
</cp:coreProperties>
</file>